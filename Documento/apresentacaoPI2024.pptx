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8" r:id="rId9"/>
    <p:sldId id="265" r:id="rId10"/>
    <p:sldId id="264" r:id="rId11"/>
    <p:sldId id="269" r:id="rId12"/>
    <p:sldId id="271" r:id="rId13"/>
    <p:sldId id="27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476E7-6B69-458A-9333-0458307BEFA3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531E7-AA12-4760-8321-1C1219C86D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59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75DAA-19A0-39D4-CDAD-4A27A67FF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8F1370-CFA8-C356-7566-0581723FA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087148-ADA7-82A6-2E7C-E151CF9E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356F1E-942D-AB0F-88B5-04737A03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F8A58-035C-A64E-53D8-0D5162F8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19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B2122-1657-E45A-755A-2CBC5188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7D34A-F599-FA12-2244-F1AA0AE59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F1C080-ED5F-9721-82C5-255417FB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0767E4-0776-138D-E9EA-743CA1AC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629A51-21A8-0828-9830-3193DC0A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2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31DC6-AF7D-C098-92ED-B8F03A7F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B56BF6-5E22-14C2-BB12-73239CB72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4A607E-29A5-835E-F3AA-BB8572E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121873-6FFB-276C-47A6-EA80BE7A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36F64E-A8F0-5E5C-0C72-7602D70B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65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69BC5-F4E5-6ABB-10E0-41B65032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5D6FBB-3EB2-CFFA-ECBD-1772DEAFD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062187-B595-4011-1940-D034A81EF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2D60E0-41B9-4A79-F141-97E79287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92736D-2633-7692-9360-5D2B6FC3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38DA37-23CA-46F3-53E9-212811BE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98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FCC8F-8F79-C403-587F-00B3A2F1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FC4089-5418-87B6-3A8A-BF4F51D2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7D1B20-15CE-C433-CDCB-7CA3893EE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AD5DBE-F8B2-DFB0-D35F-852258CC2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1B57C1-BFF0-9560-E5CB-868BA29E5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83AC822-E196-C3FF-151E-AD23D0AF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2DBB0F-9A49-1170-AB03-7D227FD5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616824-AA28-3D11-69AD-D5D4A471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88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17728-BA09-5230-FE60-F249376F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782495-3912-F513-3A69-FAF488EF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3F6571-D95B-A0AD-533B-8C2EDC88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F6CD42-8727-80BB-D56B-41CAC594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16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519B5B-9695-3452-418B-8F743EB2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C64C8A-7C19-8CE3-01C6-F4290221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CEE2D8-7FDD-5A24-EA49-850FAEF5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83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0BA6E-0AE7-2AF2-4366-3EDED3C1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BCBE94-899D-3D75-C269-1F541087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45B3A-28CA-274D-E342-E7796AFD3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0288FF-2A13-739C-A7D0-B747B1EF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8B8836-C743-5B92-4AF5-595CFB1A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94F334-A0B5-E03A-00E3-F4BC3AEB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56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B0CEC-A477-9EE8-F794-483BEB3D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80DB6D-435F-99CC-BF5B-FFC911254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0567DF-C1D0-3D28-3756-1668AC1C8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1E86C9-F1D8-3029-79D5-F9796147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E81548-C6C0-BE5B-7621-F3A3F92A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566F5D-153C-B459-EF01-69B08560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91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A4DD0-3F63-2C05-B6D3-D5670823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2324A4-817F-2993-0FEE-EEF1906D6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E986C9-34CE-6FF8-5873-36AA5F92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166FCA-AFD4-0027-5C4B-4BE68D63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73E537-6BE3-174A-621A-6B4DE2DB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43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06DFE3-007F-DA19-E98D-7C8B747E0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0DF97B-8D33-53D4-6A6D-356EFAAF5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FCDC7-32F2-E4C1-E930-2A273E77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629A06-BCF6-D534-8DAE-2482B460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8073FA-5EE7-43B9-12B0-7A4E09E7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33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F463B0B-EDD4-87CF-8216-9CC4562E8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F01ABB-5707-152B-B58A-1DDB15363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7157C4-EC52-4D4B-29EA-8E743ADC1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71BC6-38AE-488C-9B9D-C5E197BC22B2}" type="datetimeFigureOut">
              <a:rPr lang="pt-BR" smtClean="0"/>
              <a:t>21/11/2024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FC7489-98D2-8137-2C29-F51BFD739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4E14B-3827-BBD1-104E-7CA35C2D2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0AD49-848D-46E3-AA30-6FB81A2DDC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38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56528F3E-91CA-95DC-ED28-1B00576CB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" r="-1" b="2512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1C736B1-5348-2471-3FB7-A4F4E8A37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551037"/>
            <a:ext cx="5021782" cy="15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300" dirty="0">
                <a:solidFill>
                  <a:schemeClr val="tx2"/>
                </a:solidFill>
              </a:rPr>
              <a:t>Plataforma </a:t>
            </a:r>
            <a:r>
              <a:rPr lang="en-US" sz="3300">
                <a:solidFill>
                  <a:schemeClr val="tx2"/>
                </a:solidFill>
              </a:rPr>
              <a:t>de Reserva de Produtos nas Universidade</a:t>
            </a:r>
            <a:endParaRPr lang="en-US" sz="3300" dirty="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692567-F895-753D-34E0-741D19380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63585" y="4666938"/>
            <a:ext cx="3194304" cy="16157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  <a:effectLst/>
              </a:rPr>
              <a:t>Bruno Henrique Gouveia da Silva</a:t>
            </a:r>
            <a:endParaRPr lang="en-US" sz="1300" dirty="0">
              <a:solidFill>
                <a:schemeClr val="tx2"/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  <a:effectLst/>
              </a:rPr>
              <a:t>Emanuel Vitor de </a:t>
            </a:r>
            <a:r>
              <a:rPr lang="en-US" sz="1300" b="1">
                <a:solidFill>
                  <a:schemeClr val="tx2"/>
                </a:solidFill>
                <a:effectLst/>
              </a:rPr>
              <a:t>Holanda Feitosa</a:t>
            </a:r>
            <a:endParaRPr lang="en-US" sz="1300" dirty="0">
              <a:solidFill>
                <a:schemeClr val="tx2"/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  <a:effectLst/>
              </a:rPr>
              <a:t>Gabriel </a:t>
            </a:r>
            <a:r>
              <a:rPr lang="en-US" sz="1300" b="1">
                <a:solidFill>
                  <a:schemeClr val="tx2"/>
                </a:solidFill>
                <a:effectLst/>
              </a:rPr>
              <a:t>Alves Feitosa</a:t>
            </a:r>
            <a:endParaRPr lang="en-US" sz="1300" dirty="0">
              <a:solidFill>
                <a:schemeClr val="tx2"/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  <a:effectLst/>
              </a:rPr>
              <a:t>João Vitor Silva Rosa</a:t>
            </a:r>
            <a:endParaRPr lang="en-US" sz="1300" dirty="0">
              <a:solidFill>
                <a:schemeClr val="tx2"/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2"/>
                </a:solidFill>
                <a:effectLst/>
              </a:rPr>
              <a:t>Vinícius Tenório </a:t>
            </a:r>
            <a:r>
              <a:rPr lang="en-US" sz="1300" b="1" dirty="0">
                <a:solidFill>
                  <a:schemeClr val="tx2"/>
                </a:solidFill>
                <a:effectLst/>
              </a:rPr>
              <a:t>Lira</a:t>
            </a:r>
            <a:endParaRPr lang="en-US" sz="1300" dirty="0">
              <a:solidFill>
                <a:schemeClr val="tx2"/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291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74A819-60B0-9141-8D2E-638FC249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br>
              <a:rPr lang="pt-BR" sz="4000" kern="100">
                <a:solidFill>
                  <a:srgbClr val="FFFFFF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4000" b="1" kern="100">
                <a:solidFill>
                  <a:srgbClr val="FFFFFF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 </a:t>
            </a:r>
            <a:r>
              <a:rPr lang="pt-BR" sz="40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do Projeto</a:t>
            </a:r>
            <a:endParaRPr lang="pt-BR" sz="4000" b="1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400C2-EFE4-73E5-7267-A233B2D51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projeto de vendas internas na faculdade foi desenvolvido para criar uma plataforma onde os alunos possam montar e gerenciar suas próprias lojas virtuais, permitindo a venda de produtos dentro do ambiente acadêmico.</a:t>
            </a:r>
            <a:br>
              <a:rPr lang="pt-BR" sz="20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0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t-BR" sz="20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plataforma oferece uma forma fácil e segura de criar, gerenciar e reservar produtos, atendendo tanto alunos que vendem quanto os que compram.</a:t>
            </a:r>
            <a:endParaRPr lang="pt-BR" sz="2000" b="0" i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728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E27B04-F0A8-2BC0-D777-1C9057A4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b="1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Funcionalidades da Plataforma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5A2976-50C3-6855-057B-D07C6EEA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9"/>
            <a:ext cx="9724031" cy="43303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plataforma permite que os vendedores: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Cadastrar sua loja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Personalizar nome, descrição e imagem.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Alterar dados da loja e itens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Atualizar informações detalhadas e gerenciar diversos produtos.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Excluir loja ou item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Remover lojas ou produtos que não são mais necessários.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Gerenciar pedidos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Confirmar se a venda foi realizada e visualizar todos os dados da reserva do pedido.</a:t>
            </a:r>
          </a:p>
          <a:p>
            <a:pPr marL="0" indent="0">
              <a:buNone/>
            </a:pP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plataforma permite que os compradores: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Cadastrar-se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Criar uma conta na plataforma.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Alterar dados ou excluir conta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Atualizar informações pessoais ou excluir a conta.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Fazer reserva do pedido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Reservar produtos especificando local, data e horário para retirada.</a:t>
            </a:r>
          </a:p>
          <a:p>
            <a:pPr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13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Acompanhar a reserva em "Minhas Compras"</a:t>
            </a:r>
            <a:r>
              <a:rPr lang="pt-BR" sz="13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Visualizar os dados da reserva e confirmar se a compra foi concluída.</a:t>
            </a:r>
          </a:p>
          <a:p>
            <a:pPr marL="0" indent="0">
              <a:buNone/>
            </a:pP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302018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5EFE34-BCFE-CE65-0DB4-DDAB5DD2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Interações dos Usuários com a Plataforma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ço Reservado para Conteúdo 3" descr="Diagrama&#10;&#10;Descrição gerada automaticamente">
            <a:extLst>
              <a:ext uri="{FF2B5EF4-FFF2-40B4-BE49-F238E27FC236}">
                <a16:creationId xmlns:a16="http://schemas.microsoft.com/office/drawing/2014/main" id="{CA3B215F-95AC-78EB-36A0-DCAC76B16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827731"/>
            <a:ext cx="7225748" cy="52025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899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99A6BD-1AC2-81F1-E2AD-CFDEBD00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5" y="176110"/>
            <a:ext cx="1876182" cy="651817"/>
          </a:xfrm>
        </p:spPr>
        <p:txBody>
          <a:bodyPr anchor="b">
            <a:noAutofit/>
          </a:bodyPr>
          <a:lstStyle/>
          <a:p>
            <a:r>
              <a:rPr lang="pt-BR" sz="4000" dirty="0"/>
              <a:t>Classes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7" descr="Texto, Tabela&#10;&#10;Descrição gerada automaticamente">
            <a:extLst>
              <a:ext uri="{FF2B5EF4-FFF2-40B4-BE49-F238E27FC236}">
                <a16:creationId xmlns:a16="http://schemas.microsoft.com/office/drawing/2014/main" id="{052515D3-FC58-8F4B-E84E-01AFEFF44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4" y="1004037"/>
            <a:ext cx="1933845" cy="5265347"/>
          </a:xfrm>
          <a:prstGeom prst="rect">
            <a:avLst/>
          </a:prstGeom>
        </p:spPr>
      </p:pic>
      <p:pic>
        <p:nvPicPr>
          <p:cNvPr id="5" name="Imagem 4" descr="Uma imagem contendo Texto&#10;&#10;Descrição gerada automaticamente">
            <a:extLst>
              <a:ext uri="{FF2B5EF4-FFF2-40B4-BE49-F238E27FC236}">
                <a16:creationId xmlns:a16="http://schemas.microsoft.com/office/drawing/2014/main" id="{95904D92-5066-6257-24F2-FF0ECCC82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90" y="502020"/>
            <a:ext cx="1732316" cy="5767363"/>
          </a:xfrm>
          <a:prstGeom prst="rect">
            <a:avLst/>
          </a:prstGeom>
        </p:spPr>
      </p:pic>
      <p:pic>
        <p:nvPicPr>
          <p:cNvPr id="6" name="Imagem 5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BDB75E1D-0F32-B3BD-A027-AD7EDB6D5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502019"/>
            <a:ext cx="1798605" cy="5767364"/>
          </a:xfrm>
          <a:prstGeom prst="rect">
            <a:avLst/>
          </a:prstGeom>
        </p:spPr>
      </p:pic>
      <p:pic>
        <p:nvPicPr>
          <p:cNvPr id="7" name="Imagem 6" descr="Uma imagem contendo Tabela&#10;&#10;Descrição gerada automaticamente">
            <a:extLst>
              <a:ext uri="{FF2B5EF4-FFF2-40B4-BE49-F238E27FC236}">
                <a16:creationId xmlns:a16="http://schemas.microsoft.com/office/drawing/2014/main" id="{0D04E719-F22D-9FCC-34E9-0059F427B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699" y="502019"/>
            <a:ext cx="1876182" cy="5767364"/>
          </a:xfrm>
          <a:prstGeom prst="rect">
            <a:avLst/>
          </a:prstGeom>
        </p:spPr>
      </p:pic>
      <p:pic>
        <p:nvPicPr>
          <p:cNvPr id="9" name="Imagem 8" descr="Uma imagem contendo Texto&#10;&#10;Descrição gerada automaticamente">
            <a:extLst>
              <a:ext uri="{FF2B5EF4-FFF2-40B4-BE49-F238E27FC236}">
                <a16:creationId xmlns:a16="http://schemas.microsoft.com/office/drawing/2014/main" id="{289080BC-EB5E-B16D-BB6E-574114C590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375" y="502019"/>
            <a:ext cx="1798606" cy="5767364"/>
          </a:xfrm>
          <a:prstGeom prst="rect">
            <a:avLst/>
          </a:prstGeom>
        </p:spPr>
      </p:pic>
      <p:pic>
        <p:nvPicPr>
          <p:cNvPr id="11" name="Imagem 10" descr="Texto, Tabela&#10;&#10;Descrição gerada automaticamente">
            <a:extLst>
              <a:ext uri="{FF2B5EF4-FFF2-40B4-BE49-F238E27FC236}">
                <a16:creationId xmlns:a16="http://schemas.microsoft.com/office/drawing/2014/main" id="{E3699A22-2813-CC4B-11BF-C9BC3CD22E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736" y="502019"/>
            <a:ext cx="2051509" cy="2787491"/>
          </a:xfrm>
          <a:prstGeom prst="rect">
            <a:avLst/>
          </a:prstGeom>
        </p:spPr>
      </p:pic>
      <p:pic>
        <p:nvPicPr>
          <p:cNvPr id="13" name="Imagem 12" descr="Texto&#10;&#10;Descrição gerada automaticamente">
            <a:extLst>
              <a:ext uri="{FF2B5EF4-FFF2-40B4-BE49-F238E27FC236}">
                <a16:creationId xmlns:a16="http://schemas.microsoft.com/office/drawing/2014/main" id="{4D4CBDD7-14DE-0239-185D-667595A42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72"/>
          <a:stretch/>
        </p:blipFill>
        <p:spPr>
          <a:xfrm>
            <a:off x="9949735" y="3384356"/>
            <a:ext cx="2051509" cy="28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3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73A913-1458-9E8B-AC04-655F7C5BF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pt-BR" sz="4000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Encapsulamento</a:t>
            </a:r>
            <a:endParaRPr lang="pt-BR" sz="40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51545-D357-BE37-AE18-676147C54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marL="457200">
              <a:spcAft>
                <a:spcPts val="800"/>
              </a:spcAft>
            </a:pPr>
            <a:r>
              <a:rPr lang="pt-BR" sz="19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Motivo de Utilização:</a:t>
            </a:r>
            <a:endParaRPr lang="pt-BR" sz="1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spcAft>
                <a:spcPts val="800"/>
              </a:spcAft>
            </a:pP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encapsulamento é utilizado para proteger os dados do objeto, garantindo que o acesso e a modificação dos atributos sejam controlados através de métodos específicos (</a:t>
            </a:r>
            <a:r>
              <a:rPr lang="pt-BR" sz="19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getters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</a:t>
            </a:r>
            <a:r>
              <a:rPr lang="pt-BR" sz="19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setters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 Isso evita a manipulação direta dos atributos e promove a integridade dos dados.</a:t>
            </a:r>
            <a:endParaRPr lang="pt-BR" sz="1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spcAft>
                <a:spcPts val="800"/>
              </a:spcAft>
            </a:pPr>
            <a:r>
              <a:rPr lang="pt-BR" sz="19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Localização no Código:</a:t>
            </a:r>
            <a:endParaRPr lang="pt-BR" sz="1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m 8" descr="Texto&#10;&#10;Descrição gerada automaticamente">
            <a:extLst>
              <a:ext uri="{FF2B5EF4-FFF2-40B4-BE49-F238E27FC236}">
                <a16:creationId xmlns:a16="http://schemas.microsoft.com/office/drawing/2014/main" id="{7091092C-1721-AA22-422C-41902E695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22"/>
          <a:stretch/>
        </p:blipFill>
        <p:spPr>
          <a:xfrm>
            <a:off x="6291072" y="365761"/>
            <a:ext cx="5730240" cy="55752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9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CBCEE2-A5AF-4E94-E90A-3C1E3AA6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Herança</a:t>
            </a: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0DB506B-01FA-D14D-0210-D025BA0D1EBF}"/>
              </a:ext>
            </a:extLst>
          </p:cNvPr>
          <p:cNvSpPr txBox="1">
            <a:spLocks/>
          </p:cNvSpPr>
          <p:nvPr/>
        </p:nvSpPr>
        <p:spPr>
          <a:xfrm>
            <a:off x="751950" y="1625030"/>
            <a:ext cx="10515600" cy="1803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Motivo de Utilização:</a:t>
            </a:r>
            <a:endParaRPr lang="pt-BR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herança é utilizada para permitir que as subclasses (Vendedor e </a:t>
            </a:r>
            <a:r>
              <a:rPr lang="pt-BR" sz="1800" kern="10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LojaVendedor</a:t>
            </a:r>
            <a:r>
              <a:rPr lang="pt-BR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reutilizem e estendam as funcionalidades das superclasses (</a:t>
            </a:r>
            <a:r>
              <a:rPr lang="pt-BR" sz="1800" kern="10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Usuario</a:t>
            </a:r>
            <a:r>
              <a:rPr lang="pt-BR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Vendedor). Isso promove a reutilização de código e facilita a manutenção e a extensão das funcionalidades.</a:t>
            </a:r>
            <a:endParaRPr lang="pt-BR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Localização no Código:</a:t>
            </a:r>
            <a:endParaRPr lang="pt-BR" sz="1800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4DB167-B3E7-CAA5-F4E6-626FF60B344D}"/>
              </a:ext>
            </a:extLst>
          </p:cNvPr>
          <p:cNvSpPr txBox="1"/>
          <p:nvPr/>
        </p:nvSpPr>
        <p:spPr>
          <a:xfrm>
            <a:off x="751950" y="3272990"/>
            <a:ext cx="8773610" cy="367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classe Vendedor estende a classe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Usuario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usando a palavra-chave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extends</a:t>
            </a:r>
            <a:r>
              <a:rPr lang="pt-BR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Tela preta com letras brancas&#10;&#10;Descrição gerada automaticamente">
            <a:extLst>
              <a:ext uri="{FF2B5EF4-FFF2-40B4-BE49-F238E27FC236}">
                <a16:creationId xmlns:a16="http://schemas.microsoft.com/office/drawing/2014/main" id="{440A743C-7E71-227F-1A3E-8FD3F42EB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3659164"/>
            <a:ext cx="8031907" cy="141779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474DBBE-1827-E961-2C79-C545D84C86F2}"/>
              </a:ext>
            </a:extLst>
          </p:cNvPr>
          <p:cNvSpPr txBox="1"/>
          <p:nvPr/>
        </p:nvSpPr>
        <p:spPr>
          <a:xfrm>
            <a:off x="1244277" y="5232970"/>
            <a:ext cx="877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classe </a:t>
            </a:r>
            <a:r>
              <a:rPr lang="pt-BR" sz="1800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LojaVendedor</a:t>
            </a:r>
            <a:r>
              <a:rPr lang="pt-BR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estende a classe Vendedor usando a palavra-chave </a:t>
            </a:r>
            <a:r>
              <a:rPr lang="pt-BR" sz="1800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extends</a:t>
            </a:r>
            <a:r>
              <a:rPr lang="pt-BR" dirty="0">
                <a:latin typeface="Arial" panose="020B0604020202020204" pitchFamily="34" charset="0"/>
                <a:ea typeface="Aptos" panose="020B0004020202020204" pitchFamily="34" charset="0"/>
              </a:rPr>
              <a:t>:</a:t>
            </a:r>
            <a:endParaRPr lang="pt-BR" dirty="0"/>
          </a:p>
        </p:txBody>
      </p:sp>
      <p:pic>
        <p:nvPicPr>
          <p:cNvPr id="11" name="Imagem 10" descr="Texto&#10;&#10;Descrição gerada automaticamente">
            <a:extLst>
              <a:ext uri="{FF2B5EF4-FFF2-40B4-BE49-F238E27FC236}">
                <a16:creationId xmlns:a16="http://schemas.microsoft.com/office/drawing/2014/main" id="{8B91544B-6852-9252-B2E9-469B57A29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92" y="5602302"/>
            <a:ext cx="465225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03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3F67C6-98A0-7F3A-4CFB-6EEDF7B9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15" y="586855"/>
            <a:ext cx="3669657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Polimorfismo: Sobrescrita</a:t>
            </a: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8E1D00C-7548-BC5F-0B60-F352BC960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972" y="135040"/>
            <a:ext cx="8287980" cy="1608027"/>
          </a:xfrm>
        </p:spPr>
        <p:txBody>
          <a:bodyPr>
            <a:normAutofit fontScale="92500" lnSpcReduction="10000"/>
          </a:bodyPr>
          <a:lstStyle/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Motivo de Utilização: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polimorfismo permite que objetos de diferentes tipos relacionados, como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Usuario</a:t>
            </a: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Vendedor,Utilitarios</a:t>
            </a: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LojaVendedor</a:t>
            </a: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sejam tratados de maneira uniforme. Métodos com o mesmo nome se comportem de maneiras diferentes. Isso pode ser feito através de sobrecarga (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overloading</a:t>
            </a: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e sobrescrita (</a:t>
            </a:r>
            <a:r>
              <a:rPr lang="pt-BR" sz="1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overriding</a:t>
            </a:r>
            <a:r>
              <a:rPr lang="pt-BR" sz="1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pt-B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Localização no Código: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DDFC26-0958-95AC-C455-83118EAE128F}"/>
              </a:ext>
            </a:extLst>
          </p:cNvPr>
          <p:cNvSpPr txBox="1"/>
          <p:nvPr/>
        </p:nvSpPr>
        <p:spPr>
          <a:xfrm>
            <a:off x="4367693" y="1683303"/>
            <a:ext cx="759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classe Vendedor sobrescreve o método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toString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da classe </a:t>
            </a:r>
            <a:r>
              <a:rPr lang="pt-BR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Usuario</a:t>
            </a:r>
            <a:r>
              <a:rPr lang="pt-BR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Texto&#10;&#10;Descrição gerada automaticamente">
            <a:extLst>
              <a:ext uri="{FF2B5EF4-FFF2-40B4-BE49-F238E27FC236}">
                <a16:creationId xmlns:a16="http://schemas.microsoft.com/office/drawing/2014/main" id="{E3FDC7B0-2959-4735-3585-4889FEE54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563" y="2062777"/>
            <a:ext cx="4649843" cy="173371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E7FB444-E4FB-95B0-9CE0-E83BA349BA5C}"/>
              </a:ext>
            </a:extLst>
          </p:cNvPr>
          <p:cNvSpPr txBox="1"/>
          <p:nvPr/>
        </p:nvSpPr>
        <p:spPr>
          <a:xfrm>
            <a:off x="4445489" y="3890916"/>
            <a:ext cx="774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classe </a:t>
            </a:r>
            <a:r>
              <a:rPr lang="pt-BR" dirty="0" err="1"/>
              <a:t>LojaVendedor</a:t>
            </a:r>
            <a:r>
              <a:rPr lang="pt-BR" dirty="0"/>
              <a:t> sobrescreve o método </a:t>
            </a:r>
            <a:r>
              <a:rPr lang="pt-BR" dirty="0" err="1"/>
              <a:t>toString</a:t>
            </a:r>
            <a:r>
              <a:rPr lang="pt-BR" dirty="0"/>
              <a:t>() da classe Vendedor:</a:t>
            </a:r>
          </a:p>
        </p:txBody>
      </p:sp>
      <p:pic>
        <p:nvPicPr>
          <p:cNvPr id="9" name="Imagem 8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54F56E08-0864-67A2-24BB-D1290E0A2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617" y="4243645"/>
            <a:ext cx="5478690" cy="225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00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D814BE-3856-CA76-1CE8-483B2E31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Polimorfismo</a:t>
            </a:r>
            <a:r>
              <a:rPr lang="en-US" sz="40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: </a:t>
            </a:r>
            <a:r>
              <a:rPr lang="en-US" sz="40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Sobrecarga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AD899763-73CE-4B88-81F6-CFA952853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161" y="1170432"/>
            <a:ext cx="7795511" cy="36576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72DCDBF-4BF2-B939-B0D1-29A9213DE483}"/>
              </a:ext>
            </a:extLst>
          </p:cNvPr>
          <p:cNvSpPr txBox="1"/>
          <p:nvPr/>
        </p:nvSpPr>
        <p:spPr>
          <a:xfrm>
            <a:off x="2153161" y="231678"/>
            <a:ext cx="8332826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A </a:t>
            </a:r>
            <a:r>
              <a:rPr lang="en-US" sz="2000" dirty="0" err="1">
                <a:effectLst/>
              </a:rPr>
              <a:t>classe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Utilitario</a:t>
            </a:r>
            <a:r>
              <a:rPr lang="en-US" sz="2000" dirty="0">
                <a:effectLst/>
              </a:rPr>
              <a:t> no </a:t>
            </a:r>
            <a:r>
              <a:rPr lang="en-US" sz="2000" dirty="0" err="1">
                <a:effectLst/>
              </a:rPr>
              <a:t>metoto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buscarLoja</a:t>
            </a:r>
            <a:r>
              <a:rPr lang="en-US" sz="2000" dirty="0">
                <a:effectLst/>
              </a:rPr>
              <a:t>(int id) </a:t>
            </a:r>
            <a:r>
              <a:rPr lang="en-US" sz="2000" dirty="0" err="1">
                <a:effectLst/>
              </a:rPr>
              <a:t>sobrecarga</a:t>
            </a:r>
            <a:r>
              <a:rPr lang="en-US" sz="2000" dirty="0">
                <a:effectLst/>
              </a:rPr>
              <a:t> o </a:t>
            </a:r>
            <a:r>
              <a:rPr lang="en-US" sz="2000" dirty="0" err="1">
                <a:effectLst/>
              </a:rPr>
              <a:t>método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buscarLoja</a:t>
            </a:r>
            <a:r>
              <a:rPr lang="en-US" sz="2000" dirty="0">
                <a:effectLst/>
              </a:rPr>
              <a:t>(String </a:t>
            </a:r>
            <a:r>
              <a:rPr lang="en-US" sz="2000" dirty="0" err="1">
                <a:effectLst/>
              </a:rPr>
              <a:t>nomeLoja</a:t>
            </a:r>
            <a:r>
              <a:rPr lang="en-US" sz="2000" dirty="0">
                <a:effectLst/>
              </a:rPr>
              <a:t>) da </a:t>
            </a:r>
            <a:r>
              <a:rPr lang="en-US" sz="2000" dirty="0" err="1">
                <a:effectLst/>
              </a:rPr>
              <a:t>classe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Utilitario</a:t>
            </a:r>
            <a:r>
              <a:rPr lang="en-US" sz="2000" dirty="0"/>
              <a:t>:</a:t>
            </a:r>
            <a:endParaRPr lang="en-US" sz="20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317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BC9194-60EF-75DB-C934-1E9F6AE1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 de dados</a:t>
            </a:r>
          </a:p>
        </p:txBody>
      </p:sp>
      <p:pic>
        <p:nvPicPr>
          <p:cNvPr id="4" name="Espaço Reservado para Conteúdo 3" descr="Diagrama&#10;&#10;Descrição gerada automaticamente">
            <a:extLst>
              <a:ext uri="{FF2B5EF4-FFF2-40B4-BE49-F238E27FC236}">
                <a16:creationId xmlns:a16="http://schemas.microsoft.com/office/drawing/2014/main" id="{CCF6332D-541C-BC59-8509-CF5D70BBB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863859"/>
            <a:ext cx="7225748" cy="51302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674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10DBB2-FA62-76EB-65C3-ECF3DCD0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pt-BR" sz="4800" dirty="0">
                <a:solidFill>
                  <a:srgbClr val="FFFFFF"/>
                </a:solidFill>
              </a:rPr>
              <a:t>A</a:t>
            </a:r>
            <a:r>
              <a:rPr lang="pt-BR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presentar a nossa plataforma de vendas internas na faculdade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814555-A9A9-B68F-5AAC-C8D63E6B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b="1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Conclusão</a:t>
            </a:r>
            <a:br>
              <a:rPr lang="pt-BR" sz="4000" b="1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</a:br>
            <a:endParaRPr lang="pt-BR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1BA3F6-15C8-FF5A-035A-4667A77E1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964" y="649480"/>
            <a:ext cx="5370641" cy="5546047"/>
          </a:xfrm>
        </p:spPr>
        <p:txBody>
          <a:bodyPr anchor="ctr">
            <a:normAutofit/>
          </a:bodyPr>
          <a:lstStyle/>
          <a:p>
            <a:pPr algn="just"/>
            <a:r>
              <a:rPr lang="pt-BR" sz="2400" b="0" i="0" dirty="0">
                <a:effectLst/>
                <a:latin typeface="Segoe UI" panose="020B0502040204020203" pitchFamily="34" charset="0"/>
              </a:rPr>
              <a:t>A plataforma de vendas internas na faculdade promove o empreendedorismo estudantil, permitindo que alunos criem e gerenciem lojas virtuais de forma segura e prática. Com funcionalidades essenciais e uma interface intuitiva, a plataforma facilita as operações de compra e venda, incentivando habilidades empreendedoras e criatividade.</a:t>
            </a: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2476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EB757A-F649-89AE-87A5-3709FA72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454" y="3006586"/>
            <a:ext cx="7284935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4629180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543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Tema do Office</vt:lpstr>
      <vt:lpstr>Plataforma de Reserva de Produtos nas Universidade</vt:lpstr>
      <vt:lpstr> Objetivo do Projeto</vt:lpstr>
      <vt:lpstr>Funcionalidades da Plataforma</vt:lpstr>
      <vt:lpstr>Interações dos Usuários com a Plataforma</vt:lpstr>
      <vt:lpstr>Classes</vt:lpstr>
      <vt:lpstr>Encapsulamento</vt:lpstr>
      <vt:lpstr>Herança</vt:lpstr>
      <vt:lpstr>Polimorfismo: Sobrescrita</vt:lpstr>
      <vt:lpstr>Polimorfismo: Sobrecarga</vt:lpstr>
      <vt:lpstr>Modelo de dados</vt:lpstr>
      <vt:lpstr> Apresentar a nossa plataforma de vendas internas na faculdade</vt:lpstr>
      <vt:lpstr>Conclusão 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HENRIQUE GOUVEIA DA SILVA</dc:creator>
  <cp:lastModifiedBy>BRUNO HENRIQUE GOUVEIA DA SILVA</cp:lastModifiedBy>
  <cp:revision>1</cp:revision>
  <dcterms:created xsi:type="dcterms:W3CDTF">2024-11-21T13:58:52Z</dcterms:created>
  <dcterms:modified xsi:type="dcterms:W3CDTF">2024-11-21T16:47:51Z</dcterms:modified>
</cp:coreProperties>
</file>